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hDfUfqm8YK+rXX7lN1wFnioToc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914377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a&#10;&#10;El contenido generado por IA puede ser incorrecto." id="85" name="Google Shape;85;p1"/>
          <p:cNvPicPr preferRelativeResize="0"/>
          <p:nvPr/>
        </p:nvPicPr>
        <p:blipFill rotWithShape="1">
          <a:blip r:embed="rId3">
            <a:alphaModFix/>
          </a:blip>
          <a:srcRect b="3073" l="0" r="1" t="0"/>
          <a:stretch/>
        </p:blipFill>
        <p:spPr>
          <a:xfrm>
            <a:off x="20" y="10"/>
            <a:ext cx="9171076" cy="4666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"/>
          <p:cNvGrpSpPr/>
          <p:nvPr/>
        </p:nvGrpSpPr>
        <p:grpSpPr>
          <a:xfrm>
            <a:off x="-228" y="2987478"/>
            <a:ext cx="9171095" cy="1828800"/>
            <a:chOff x="-305" y="2987478"/>
            <a:chExt cx="12188952" cy="1828800"/>
          </a:xfrm>
        </p:grpSpPr>
        <p:sp>
          <p:nvSpPr>
            <p:cNvPr id="87" name="Google Shape;87;p1"/>
            <p:cNvSpPr/>
            <p:nvPr/>
          </p:nvSpPr>
          <p:spPr>
            <a:xfrm>
              <a:off x="-305" y="2987478"/>
              <a:ext cx="12188952" cy="1099712"/>
            </a:xfrm>
            <a:custGeom>
              <a:rect b="b" l="l" r="r" t="t"/>
              <a:pathLst>
                <a:path extrusionOk="0" h="932744" w="918210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-305" y="3199381"/>
              <a:ext cx="12188952" cy="902694"/>
            </a:xfrm>
            <a:custGeom>
              <a:rect b="b" l="l" r="r" t="t"/>
              <a:pathLst>
                <a:path extrusionOk="0" h="765639" w="918210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-305" y="3501488"/>
              <a:ext cx="12188952" cy="641669"/>
            </a:xfrm>
            <a:custGeom>
              <a:rect b="b" l="l" r="r" t="t"/>
              <a:pathLst>
                <a:path extrusionOk="0" h="544245" w="918210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-305" y="3614750"/>
              <a:ext cx="12188952" cy="1201528"/>
            </a:xfrm>
            <a:custGeom>
              <a:rect b="b" l="l" r="r" t="t"/>
              <a:pathLst>
                <a:path extrusionOk="0" h="1019102" w="918210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"/>
          <p:cNvSpPr txBox="1"/>
          <p:nvPr>
            <p:ph type="ctrTitle"/>
          </p:nvPr>
        </p:nvSpPr>
        <p:spPr>
          <a:xfrm>
            <a:off x="603504" y="4551037"/>
            <a:ext cx="3766336" cy="1509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Calibri"/>
              <a:buNone/>
            </a:pPr>
            <a:r>
              <a:rPr lang="en-US" sz="3100">
                <a:solidFill>
                  <a:schemeClr val="dk2"/>
                </a:solidFill>
              </a:rPr>
              <a:t>PymePulse</a:t>
            </a:r>
            <a:endParaRPr/>
          </a:p>
        </p:txBody>
      </p:sp>
      <p:sp>
        <p:nvSpPr>
          <p:cNvPr id="92" name="Google Shape;92;p1"/>
          <p:cNvSpPr txBox="1"/>
          <p:nvPr>
            <p:ph idx="1" type="subTitle"/>
          </p:nvPr>
        </p:nvSpPr>
        <p:spPr>
          <a:xfrm>
            <a:off x="4852685" y="4551037"/>
            <a:ext cx="3694808" cy="1509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2"/>
                </a:solidFill>
              </a:rPr>
              <a:t>Sistema de gestión inteligente para PYMES</a:t>
            </a:r>
            <a:endParaRPr/>
          </a:p>
          <a:p>
            <a:pPr indent="10160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2"/>
                </a:solidFill>
              </a:rPr>
              <a:t>Capstone – Ingeniería Informática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2"/>
                </a:solidFill>
              </a:rPr>
              <a:t>Integrante:Douglas Ramirez </a:t>
            </a:r>
            <a:endParaRPr/>
          </a:p>
          <a:p>
            <a:pPr indent="10160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914377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a persona con un traje de color azul&#10;&#10;El contenido generado por IA puede ser incorrecto." id="98" name="Google Shape;98;p2"/>
          <p:cNvPicPr preferRelativeResize="0"/>
          <p:nvPr/>
        </p:nvPicPr>
        <p:blipFill rotWithShape="1">
          <a:blip r:embed="rId3">
            <a:alphaModFix/>
          </a:blip>
          <a:srcRect b="-1" l="0" r="12060" t="0"/>
          <a:stretch/>
        </p:blipFill>
        <p:spPr>
          <a:xfrm>
            <a:off x="20" y="10"/>
            <a:ext cx="9171076" cy="4666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p2"/>
          <p:cNvGrpSpPr/>
          <p:nvPr/>
        </p:nvGrpSpPr>
        <p:grpSpPr>
          <a:xfrm>
            <a:off x="-228" y="2987478"/>
            <a:ext cx="9171095" cy="1828800"/>
            <a:chOff x="-305" y="2987478"/>
            <a:chExt cx="12188952" cy="1828800"/>
          </a:xfrm>
        </p:grpSpPr>
        <p:sp>
          <p:nvSpPr>
            <p:cNvPr id="100" name="Google Shape;100;p2"/>
            <p:cNvSpPr/>
            <p:nvPr/>
          </p:nvSpPr>
          <p:spPr>
            <a:xfrm>
              <a:off x="-305" y="2987478"/>
              <a:ext cx="12188952" cy="1099712"/>
            </a:xfrm>
            <a:custGeom>
              <a:rect b="b" l="l" r="r" t="t"/>
              <a:pathLst>
                <a:path extrusionOk="0" h="932744" w="918210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-305" y="3199381"/>
              <a:ext cx="12188952" cy="902694"/>
            </a:xfrm>
            <a:custGeom>
              <a:rect b="b" l="l" r="r" t="t"/>
              <a:pathLst>
                <a:path extrusionOk="0" h="765639" w="918210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-305" y="3501488"/>
              <a:ext cx="12188952" cy="641669"/>
            </a:xfrm>
            <a:custGeom>
              <a:rect b="b" l="l" r="r" t="t"/>
              <a:pathLst>
                <a:path extrusionOk="0" h="544245" w="918210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-305" y="3614750"/>
              <a:ext cx="12188952" cy="1201528"/>
            </a:xfrm>
            <a:custGeom>
              <a:rect b="b" l="l" r="r" t="t"/>
              <a:pathLst>
                <a:path extrusionOk="0" h="1019102" w="918210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2"/>
          <p:cNvSpPr txBox="1"/>
          <p:nvPr>
            <p:ph type="title"/>
          </p:nvPr>
        </p:nvSpPr>
        <p:spPr>
          <a:xfrm>
            <a:off x="603504" y="4143157"/>
            <a:ext cx="3766336" cy="1509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Calibri"/>
              <a:buNone/>
            </a:pPr>
            <a:r>
              <a:rPr b="1" lang="en-US" sz="3100">
                <a:solidFill>
                  <a:schemeClr val="dk2"/>
                </a:solidFill>
              </a:rPr>
              <a:t>Contexto</a:t>
            </a:r>
            <a:endParaRPr/>
          </a:p>
        </p:txBody>
      </p:sp>
      <p:sp>
        <p:nvSpPr>
          <p:cNvPr id="105" name="Google Shape;105;p2"/>
          <p:cNvSpPr txBox="1"/>
          <p:nvPr>
            <p:ph idx="1" type="body"/>
          </p:nvPr>
        </p:nvSpPr>
        <p:spPr>
          <a:xfrm>
            <a:off x="4845688" y="4123873"/>
            <a:ext cx="3694808" cy="1509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-US" sz="1600">
                <a:solidFill>
                  <a:schemeClr val="dk2"/>
                </a:solidFill>
              </a:rPr>
              <a:t>Las PYMES cumplen un rol clave en la economía, pero muchas presentan dificultades en la gestión de inventario, ventas y gastos por falta de herramientas digitales.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 flipH="1" rot="10800000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lang="en-US" sz="3500">
                <a:solidFill>
                  <a:srgbClr val="FFFFFF"/>
                </a:solidFill>
              </a:rPr>
              <a:t>Problema y Solución</a:t>
            </a:r>
            <a:endParaRPr/>
          </a:p>
        </p:txBody>
      </p:sp>
      <p:grpSp>
        <p:nvGrpSpPr>
          <p:cNvPr id="115" name="Google Shape;115;p3"/>
          <p:cNvGrpSpPr/>
          <p:nvPr/>
        </p:nvGrpSpPr>
        <p:grpSpPr>
          <a:xfrm>
            <a:off x="568102" y="2808681"/>
            <a:ext cx="8025750" cy="2800600"/>
            <a:chOff x="85060" y="696102"/>
            <a:chExt cx="8025750" cy="2800600"/>
          </a:xfrm>
        </p:grpSpPr>
        <p:sp>
          <p:nvSpPr>
            <p:cNvPr id="116" name="Google Shape;116;p3"/>
            <p:cNvSpPr/>
            <p:nvPr/>
          </p:nvSpPr>
          <p:spPr>
            <a:xfrm>
              <a:off x="1099810" y="696102"/>
              <a:ext cx="1660500" cy="16605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85060" y="2776702"/>
              <a:ext cx="369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 txBox="1"/>
            <p:nvPr/>
          </p:nvSpPr>
          <p:spPr>
            <a:xfrm>
              <a:off x="85060" y="2776702"/>
              <a:ext cx="369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Problema: gestión manual y fragmentada de la información.</a:t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5435560" y="696102"/>
              <a:ext cx="1660500" cy="16605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4420810" y="2776702"/>
              <a:ext cx="369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4420810" y="2776702"/>
              <a:ext cx="369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Solución: PymePulse centraliza inventario, ventas y gastos en una plataforma web simple y accesible.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persona, tabla, mujer, hombre&#10;&#10;El contenido generado por IA puede ser incorrecto." id="127" name="Google Shape;127;p4"/>
          <p:cNvPicPr preferRelativeResize="0"/>
          <p:nvPr/>
        </p:nvPicPr>
        <p:blipFill rotWithShape="1">
          <a:blip r:embed="rId3">
            <a:alphaModFix/>
          </a:blip>
          <a:srcRect b="-1" l="4982" r="24428" t="0"/>
          <a:stretch/>
        </p:blipFill>
        <p:spPr>
          <a:xfrm>
            <a:off x="1891767" y="10"/>
            <a:ext cx="725223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/>
          <p:nvPr/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>
            <p:ph type="title"/>
          </p:nvPr>
        </p:nvSpPr>
        <p:spPr>
          <a:xfrm>
            <a:off x="628650" y="365125"/>
            <a:ext cx="2866641" cy="1899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b="1" lang="en-US" sz="3500"/>
              <a:t>Público Objetivo</a:t>
            </a:r>
            <a:endParaRPr/>
          </a:p>
        </p:txBody>
      </p:sp>
      <p:sp>
        <p:nvSpPr>
          <p:cNvPr id="130" name="Google Shape;130;p4"/>
          <p:cNvSpPr txBox="1"/>
          <p:nvPr>
            <p:ph idx="1" type="body"/>
          </p:nvPr>
        </p:nvSpPr>
        <p:spPr>
          <a:xfrm>
            <a:off x="628650" y="2434201"/>
            <a:ext cx="2866641" cy="3742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Pequeñas y medianas empresas, emprendedores y administradores que necesitan una solución clara para la gestión de su negocio.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1764"/>
                </a:srgbClr>
              </a:gs>
              <a:gs pos="100000">
                <a:srgbClr val="24406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lang="en-US" sz="3500">
                <a:solidFill>
                  <a:srgbClr val="FFFFFF"/>
                </a:solidFill>
              </a:rPr>
              <a:t>Objetivos</a:t>
            </a:r>
            <a:endParaRPr/>
          </a:p>
        </p:txBody>
      </p:sp>
      <p:sp>
        <p:nvSpPr>
          <p:cNvPr id="141" name="Google Shape;141;p5"/>
          <p:cNvSpPr txBox="1"/>
          <p:nvPr>
            <p:ph idx="1" type="body"/>
          </p:nvPr>
        </p:nvSpPr>
        <p:spPr>
          <a:xfrm>
            <a:off x="1028699" y="2318197"/>
            <a:ext cx="7293023" cy="3683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Objetivo general: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Desarrollar un sistema web que apoye la gestión de PYMES.</a:t>
            </a:r>
            <a:endParaRPr/>
          </a:p>
          <a:p>
            <a:pPr indent="-23495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Objetivos específicos: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- Control de inventario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- Registro de ventas y gastos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- Gestión de usuarios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- Alertas automáticas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 flipH="1" rot="10800000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lang="en-US" sz="3500">
                <a:solidFill>
                  <a:srgbClr val="FFFFFF"/>
                </a:solidFill>
              </a:rPr>
              <a:t>Metodología Ágil (Scrum)</a:t>
            </a:r>
            <a:endParaRPr/>
          </a:p>
        </p:txBody>
      </p:sp>
      <p:grpSp>
        <p:nvGrpSpPr>
          <p:cNvPr id="151" name="Google Shape;151;p6"/>
          <p:cNvGrpSpPr/>
          <p:nvPr/>
        </p:nvGrpSpPr>
        <p:grpSpPr>
          <a:xfrm>
            <a:off x="568102" y="2808681"/>
            <a:ext cx="8025750" cy="2800600"/>
            <a:chOff x="85060" y="696102"/>
            <a:chExt cx="8025750" cy="2800600"/>
          </a:xfrm>
        </p:grpSpPr>
        <p:sp>
          <p:nvSpPr>
            <p:cNvPr id="152" name="Google Shape;152;p6"/>
            <p:cNvSpPr/>
            <p:nvPr/>
          </p:nvSpPr>
          <p:spPr>
            <a:xfrm>
              <a:off x="1099810" y="696102"/>
              <a:ext cx="1660500" cy="16605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85060" y="2776702"/>
              <a:ext cx="369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6"/>
            <p:cNvSpPr txBox="1"/>
            <p:nvPr/>
          </p:nvSpPr>
          <p:spPr>
            <a:xfrm>
              <a:off x="85060" y="2776702"/>
              <a:ext cx="369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El proyecto se desarrollara utilizando una metodología ágil basada en Scrum.</a:t>
              </a:r>
              <a:endParaRPr/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5435560" y="696102"/>
              <a:ext cx="1660500" cy="16605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4420810" y="2776702"/>
              <a:ext cx="369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6"/>
            <p:cNvSpPr txBox="1"/>
            <p:nvPr/>
          </p:nvSpPr>
          <p:spPr>
            <a:xfrm>
              <a:off x="4420810" y="2776702"/>
              <a:ext cx="369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El trabajo se organizó en sprints, permitiendo entregas parciales y mejora continua del sistema.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 flipH="1" rot="10800000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lang="en-US" sz="3500">
                <a:solidFill>
                  <a:srgbClr val="FFFFFF"/>
                </a:solidFill>
              </a:rPr>
              <a:t>Sprints del Proyecto</a:t>
            </a:r>
            <a:endParaRPr/>
          </a:p>
        </p:txBody>
      </p:sp>
      <p:grpSp>
        <p:nvGrpSpPr>
          <p:cNvPr id="167" name="Google Shape;167;p7"/>
          <p:cNvGrpSpPr/>
          <p:nvPr/>
        </p:nvGrpSpPr>
        <p:grpSpPr>
          <a:xfrm>
            <a:off x="483042" y="2544195"/>
            <a:ext cx="8195870" cy="3329571"/>
            <a:chOff x="0" y="431616"/>
            <a:chExt cx="8195870" cy="3329571"/>
          </a:xfrm>
        </p:grpSpPr>
        <p:sp>
          <p:nvSpPr>
            <p:cNvPr id="168" name="Google Shape;168;p7"/>
            <p:cNvSpPr/>
            <p:nvPr/>
          </p:nvSpPr>
          <p:spPr>
            <a:xfrm>
              <a:off x="0" y="431616"/>
              <a:ext cx="2561209" cy="1536725"/>
            </a:xfrm>
            <a:prstGeom prst="rect">
              <a:avLst/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7"/>
            <p:cNvSpPr txBox="1"/>
            <p:nvPr/>
          </p:nvSpPr>
          <p:spPr>
            <a:xfrm>
              <a:off x="0" y="431616"/>
              <a:ext cx="2561209" cy="153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Sprint 1: Autenticación y gestión de usuarios</a:t>
              </a:r>
              <a:endParaRPr/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2817330" y="431616"/>
              <a:ext cx="2561209" cy="1536725"/>
            </a:xfrm>
            <a:prstGeom prst="rect">
              <a:avLst/>
            </a:prstGeom>
            <a:solidFill>
              <a:srgbClr val="BD754F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7"/>
            <p:cNvSpPr txBox="1"/>
            <p:nvPr/>
          </p:nvSpPr>
          <p:spPr>
            <a:xfrm>
              <a:off x="2817330" y="431616"/>
              <a:ext cx="2561209" cy="153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Sprint 2: Productos e inventario</a:t>
              </a:r>
              <a:endParaRPr/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5634661" y="431616"/>
              <a:ext cx="2561209" cy="1536725"/>
            </a:xfrm>
            <a:prstGeom prst="rect">
              <a:avLst/>
            </a:prstGeom>
            <a:solidFill>
              <a:srgbClr val="BB995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7"/>
            <p:cNvSpPr txBox="1"/>
            <p:nvPr/>
          </p:nvSpPr>
          <p:spPr>
            <a:xfrm>
              <a:off x="5634661" y="431616"/>
              <a:ext cx="2561209" cy="153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Sprint 3: Ventas y gastos</a:t>
              </a:r>
              <a:endParaRPr/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1408665" y="2224462"/>
              <a:ext cx="2561209" cy="1536725"/>
            </a:xfrm>
            <a:prstGeom prst="rect">
              <a:avLst/>
            </a:prstGeom>
            <a:solidFill>
              <a:srgbClr val="BABA5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7"/>
            <p:cNvSpPr txBox="1"/>
            <p:nvPr/>
          </p:nvSpPr>
          <p:spPr>
            <a:xfrm>
              <a:off x="1408665" y="2224462"/>
              <a:ext cx="2561209" cy="153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Sprint 4: Alertas y dashboard</a:t>
              </a:r>
              <a:endParaRPr/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4225995" y="2224462"/>
              <a:ext cx="2561209" cy="1536725"/>
            </a:xfrm>
            <a:prstGeom prst="rect">
              <a:avLst/>
            </a:prstGeom>
            <a:solidFill>
              <a:srgbClr val="99B9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7"/>
            <p:cNvSpPr txBox="1"/>
            <p:nvPr/>
          </p:nvSpPr>
          <p:spPr>
            <a:xfrm>
              <a:off x="4225995" y="2224462"/>
              <a:ext cx="2561209" cy="153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Sprint 5: Pruebas y ajustes finales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 flipH="1" rot="10800000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 txBox="1"/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lang="en-US" sz="3500">
                <a:solidFill>
                  <a:srgbClr val="FFFFFF"/>
                </a:solidFill>
              </a:rPr>
              <a:t>Stack Tecnológico</a:t>
            </a:r>
            <a:endParaRPr/>
          </a:p>
        </p:txBody>
      </p:sp>
      <p:pic>
        <p:nvPicPr>
          <p:cNvPr descr="Icono&#10;&#10;El contenido generado por IA puede ser incorrecto." id="187" name="Google Shape;18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8333" y="2722114"/>
            <a:ext cx="1705128" cy="104439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 txBox="1"/>
          <p:nvPr/>
        </p:nvSpPr>
        <p:spPr>
          <a:xfrm>
            <a:off x="6308333" y="2352782"/>
            <a:ext cx="13561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3200400" y="216731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647271" y="4496551"/>
            <a:ext cx="159518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Autenticación: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565079" y="2255184"/>
            <a:ext cx="13561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9548" y="2914060"/>
            <a:ext cx="1330503" cy="1372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Logotipo&#10;&#10;El contenido generado por IA puede ser incorrecto." id="193" name="Google Shape;19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867" y="2710186"/>
            <a:ext cx="2398392" cy="1575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&#10;&#10;El contenido generado por IA puede ser incorrecto." id="194" name="Google Shape;19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3480" y="5137157"/>
            <a:ext cx="1242761" cy="1371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1764"/>
                </a:srgbClr>
              </a:gs>
              <a:gs pos="100000">
                <a:srgbClr val="24406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 txBox="1"/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lang="en-US" sz="3500">
                <a:solidFill>
                  <a:srgbClr val="FFFFFF"/>
                </a:solidFill>
              </a:rPr>
              <a:t>Conclusión</a:t>
            </a:r>
            <a:endParaRPr/>
          </a:p>
        </p:txBody>
      </p:sp>
      <p:sp>
        <p:nvSpPr>
          <p:cNvPr id="205" name="Google Shape;205;p10"/>
          <p:cNvSpPr txBox="1"/>
          <p:nvPr>
            <p:ph idx="1" type="body"/>
          </p:nvPr>
        </p:nvSpPr>
        <p:spPr>
          <a:xfrm>
            <a:off x="1028699" y="2318197"/>
            <a:ext cx="7293023" cy="3683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PymePulse transforma la gestión diaria de las PYMES en un proceso simple, ordenado y accesible.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br>
              <a:rPr lang="en-US" sz="1800"/>
            </a:br>
            <a:r>
              <a:rPr lang="en-US" sz="1800"/>
              <a:t>A través de una plataforma web moderna, el sistema permite centralizar información crítica del negocio, reducir errores operativos y anticipar riesgos financieros.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br>
              <a:rPr lang="en-US" sz="1800"/>
            </a:br>
            <a:r>
              <a:rPr lang="en-US" sz="1800"/>
              <a:t>El proyecto refleja una solución real, escalable y alineada con las necesidades actuales del mercado.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